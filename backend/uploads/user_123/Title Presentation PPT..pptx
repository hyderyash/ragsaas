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95" r:id="rId3"/>
    <p:sldId id="296" r:id="rId5"/>
    <p:sldId id="297" r:id="rId6"/>
    <p:sldId id="318" r:id="rId7"/>
    <p:sldId id="312" r:id="rId8"/>
    <p:sldId id="302" r:id="rId9"/>
    <p:sldId id="301" r:id="rId10"/>
    <p:sldId id="317" r:id="rId11"/>
    <p:sldId id="323" r:id="rId12"/>
    <p:sldId id="300" r:id="rId13"/>
    <p:sldId id="320" r:id="rId14"/>
    <p:sldId id="299" r:id="rId15"/>
    <p:sldId id="321" r:id="rId16"/>
    <p:sldId id="306" r:id="rId17"/>
    <p:sldId id="32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91" autoAdjust="0"/>
    <p:restoredTop sz="94660"/>
  </p:normalViewPr>
  <p:slideViewPr>
    <p:cSldViewPr showGuides="1">
      <p:cViewPr varScale="1">
        <p:scale>
          <a:sx n="68" d="100"/>
          <a:sy n="68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NCIRIT2020</a:t>
            </a:r>
            <a:endParaRPr lang="en-US"/>
          </a:p>
        </p:txBody>
      </p:sp>
      <p:sp>
        <p:nvSpPr>
          <p:cNvPr id="1048734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BDCAC-1AFF-496B-AB0E-BDD1F0F6045F}" type="datetimeFigureOut">
              <a:rPr lang="en-US" smtClean="0"/>
            </a:fld>
            <a:endParaRPr lang="en-US"/>
          </a:p>
        </p:txBody>
      </p:sp>
      <p:sp>
        <p:nvSpPr>
          <p:cNvPr id="1048735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73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F956E-4251-496A-8D0D-17F31555DAD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NCIRIT2020</a:t>
            </a:r>
            <a:endParaRPr lang="en-US"/>
          </a:p>
        </p:txBody>
      </p:sp>
      <p:sp>
        <p:nvSpPr>
          <p:cNvPr id="104872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03331-EF96-4D18-B68E-4EE5FB68495D}" type="datetimeFigureOut">
              <a:rPr lang="en-US" smtClean="0"/>
            </a:fld>
            <a:endParaRPr lang="en-US"/>
          </a:p>
        </p:txBody>
      </p:sp>
      <p:sp>
        <p:nvSpPr>
          <p:cNvPr id="104872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3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3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73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4191C-5F97-45FA-93E7-34B3FDEBD0D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48600" name="Date 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F503331-EF96-4D18-B68E-4EE5FB68495D}" type="datetimeFigureOut">
              <a:rPr lang="en-US" smtClean="0"/>
            </a:fld>
            <a:endParaRPr lang="en-US"/>
          </a:p>
        </p:txBody>
      </p:sp>
      <p:sp>
        <p:nvSpPr>
          <p:cNvPr id="1048601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F4191C-5F97-45FA-93E7-34B3FDEBD0DF}" type="slidenum">
              <a:rPr lang="en-US" smtClean="0"/>
            </a:fld>
            <a:endParaRPr lang="en-US"/>
          </a:p>
        </p:txBody>
      </p:sp>
      <p:sp>
        <p:nvSpPr>
          <p:cNvPr id="104860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03" name="Header Placeholder 10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US"/>
              <a:t>NCIRIT2020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F503331-EF96-4D18-B68E-4EE5FB68495D}" type="datetimeFigureOut">
              <a:rPr lang="en-US" smtClean="0"/>
            </a:fld>
            <a:endParaRPr lang="en-US"/>
          </a:p>
        </p:txBody>
      </p:sp>
      <p:sp>
        <p:nvSpPr>
          <p:cNvPr id="10486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F4191C-5F97-45FA-93E7-34B3FDEBD0DF}" type="slidenum">
              <a:rPr lang="en-US" smtClean="0"/>
            </a:fld>
            <a:endParaRPr lang="en-US"/>
          </a:p>
        </p:txBody>
      </p:sp>
      <p:sp>
        <p:nvSpPr>
          <p:cNvPr id="1048619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20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US"/>
              <a:t>NCIRIT2020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584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85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1048586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9221-B697-47E1-8BB8-FBF3A97E00F7}" type="datetime1">
              <a:rPr lang="en-US" smtClean="0"/>
            </a:fld>
            <a:endParaRPr lang="en-US"/>
          </a:p>
        </p:txBody>
      </p:sp>
      <p:sp>
        <p:nvSpPr>
          <p:cNvPr id="104858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588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589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2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6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7930B-4609-4A8D-B1C3-8DB06F8A979D}" type="datetime1">
              <a:rPr lang="en-US" smtClean="0"/>
            </a:fld>
            <a:endParaRPr lang="en-US"/>
          </a:p>
        </p:txBody>
      </p:sp>
      <p:sp>
        <p:nvSpPr>
          <p:cNvPr id="10486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0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693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69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84F-1C5E-4621-8FE8-ACC022001FF9}" type="datetime1">
              <a:rPr lang="en-US" smtClean="0"/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98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99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00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7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A372-FA62-427C-896F-EAE8CC1B92BC}" type="datetime1">
              <a:rPr lang="en-US" smtClean="0"/>
            </a:fld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706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707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709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048710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0487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3320-00D3-4007-A481-F2556FE15E5D}" type="datetime1">
              <a:rPr lang="en-US" smtClean="0"/>
            </a:fld>
            <a:endParaRPr lang="en-US"/>
          </a:p>
        </p:txBody>
      </p:sp>
      <p:sp>
        <p:nvSpPr>
          <p:cNvPr id="10487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7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714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715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67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54458-3680-4F41-AEFA-96D39D9FC2FB}" type="datetime1">
              <a:rPr lang="en-US" smtClean="0"/>
            </a:fld>
            <a:endParaRPr lang="en-US"/>
          </a:p>
        </p:txBody>
      </p:sp>
      <p:sp>
        <p:nvSpPr>
          <p:cNvPr id="104867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7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F760-1344-4D88-9A8C-4510642D4C61}" type="datetime1">
              <a:rPr lang="en-US" smtClean="0"/>
            </a:fld>
            <a:endParaRPr lang="en-US"/>
          </a:p>
        </p:txBody>
      </p:sp>
      <p:sp>
        <p:nvSpPr>
          <p:cNvPr id="104871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720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722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0487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3547-CC27-4DA6-A179-AE3ED782B249}" type="datetime1">
              <a:rPr lang="en-US" smtClean="0"/>
            </a:fld>
            <a:endParaRPr lang="en-US"/>
          </a:p>
        </p:txBody>
      </p:sp>
      <p:sp>
        <p:nvSpPr>
          <p:cNvPr id="10487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7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726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679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04868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C165A-D6D7-45F2-8A47-6C75922FBA2A}" type="datetime1">
              <a:rPr lang="en-US" smtClean="0"/>
            </a:fld>
            <a:endParaRPr lang="en-US"/>
          </a:p>
        </p:txBody>
      </p:sp>
      <p:sp>
        <p:nvSpPr>
          <p:cNvPr id="104868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8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83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4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5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6913-3839-4C01-9B6B-CC13529F5ED0}" type="datetime1">
              <a:rPr lang="en-US" smtClean="0"/>
            </a:fld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67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ECFDC-A1D1-41A5-B502-3EA87819841B}" type="datetime1">
              <a:rPr lang="en-US" smtClean="0"/>
            </a:fld>
            <a:endParaRPr lang="en-US"/>
          </a:p>
        </p:txBody>
      </p:sp>
      <p:sp>
        <p:nvSpPr>
          <p:cNvPr id="10486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67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577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78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048579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048580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C2A6AA7-E716-4B0E-8EBE-49AFB6EA21E2}" type="datetime1">
              <a:rPr lang="en-US" smtClean="0"/>
            </a:fld>
            <a:endParaRPr lang="en-US"/>
          </a:p>
        </p:txBody>
      </p:sp>
      <p:sp>
        <p:nvSpPr>
          <p:cNvPr id="104858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SAGE UNIVERSITY, INDORE</a:t>
            </a:r>
            <a:endParaRPr lang="en-US"/>
          </a:p>
        </p:txBody>
      </p:sp>
      <p:sp>
        <p:nvSpPr>
          <p:cNvPr id="104858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BC9E9F2-D9C2-4812-8202-65AFE3A88A5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00" y="1600200"/>
            <a:ext cx="8915400" cy="1299555"/>
          </a:xfrm>
          <a:prstGeom prst="rect">
            <a:avLst/>
          </a:prstGeom>
        </p:spPr>
        <p:txBody>
          <a:bodyPr bIns="91440" anchor="ctr" anchorCtr="0">
            <a:noAutofit/>
          </a:bodyPr>
          <a:lstStyle/>
          <a:p>
            <a:pPr algn="ctr"/>
            <a:r>
              <a:rPr lang="en-US" sz="2400" b="1" dirty="0" smtClean="0"/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Ajeenkya D Y Patil University,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Pune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3032760"/>
            <a:ext cx="85344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Title of Mini- Project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Presented By </a:t>
            </a: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–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1295400" y="4876800"/>
            <a:ext cx="2895600" cy="14478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1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Students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3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" y="165735"/>
            <a:ext cx="8012430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0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5259705" cy="4572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2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1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6553200" cy="47244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Research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12838"/>
            <a:ext cx="7162800" cy="4906962"/>
          </a:xfrm>
        </p:spPr>
        <p:txBody>
          <a:bodyPr>
            <a:normAutofit/>
          </a:bodyPr>
          <a:lstStyle/>
          <a:p>
            <a:pPr algn="just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Review/Survey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6358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&amp; Motivation 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Methodology/Data Collection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603504" y="960438"/>
            <a:ext cx="8083296" cy="5308599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/>
              <a:t>Accuracy</a:t>
            </a:r>
            <a:endParaRPr lang="en-US" sz="2000" dirty="0" smtClean="0"/>
          </a:p>
          <a:p>
            <a:pPr algn="just"/>
            <a:r>
              <a:rPr lang="en-US" sz="2000" dirty="0"/>
              <a:t>True Positive Rate (TPR</a:t>
            </a:r>
            <a:r>
              <a:rPr lang="en-US" sz="2000" dirty="0" smtClean="0"/>
              <a:t>)</a:t>
            </a:r>
            <a:endParaRPr lang="en-US" sz="2000" dirty="0" smtClean="0"/>
          </a:p>
          <a:p>
            <a:pPr algn="just"/>
            <a:r>
              <a:rPr lang="en-US" sz="2000" dirty="0"/>
              <a:t>True Negative Rate (TNR</a:t>
            </a:r>
            <a:r>
              <a:rPr lang="en-US" sz="2000" dirty="0" smtClean="0"/>
              <a:t>)</a:t>
            </a:r>
            <a:endParaRPr lang="en-US" sz="2000" dirty="0" smtClean="0"/>
          </a:p>
          <a:p>
            <a:pPr algn="just"/>
            <a:r>
              <a:rPr lang="en-US" sz="2000" dirty="0"/>
              <a:t>ROC Curve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392946" y="6324868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01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  <a:b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1038225"/>
            <a:ext cx="7772400" cy="4981575"/>
          </a:xfrm>
        </p:spPr>
        <p:txBody>
          <a:bodyPr>
            <a:normAutofit/>
          </a:bodyPr>
          <a:lstStyle/>
          <a:p>
            <a:r>
              <a:rPr lang="en-US" sz="2200" b="1" dirty="0"/>
              <a:t>Software</a:t>
            </a:r>
            <a:r>
              <a:rPr lang="en-US" sz="2200" b="1" dirty="0" smtClean="0"/>
              <a:t>:</a:t>
            </a:r>
            <a:endParaRPr lang="en-US" sz="2200" b="1" dirty="0" smtClean="0"/>
          </a:p>
          <a:p>
            <a:r>
              <a:rPr lang="en-US" sz="2200" dirty="0"/>
              <a:t>Operating System: Windows 10/11 or Ubuntu 20.04</a:t>
            </a:r>
            <a:r>
              <a:rPr lang="en-US" sz="2200" dirty="0" smtClean="0"/>
              <a:t>+</a:t>
            </a:r>
            <a:endParaRPr lang="en-US" sz="2200" dirty="0" smtClean="0"/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01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  <a:b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1038225"/>
            <a:ext cx="7772400" cy="4981575"/>
          </a:xfrm>
        </p:spPr>
        <p:txBody>
          <a:bodyPr>
            <a:normAutofit/>
          </a:bodyPr>
          <a:lstStyle/>
          <a:p>
            <a:r>
              <a:rPr lang="en-US" b="1" dirty="0" smtClean="0"/>
              <a:t>Hardware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Intel Core i7 / AMD Ryzen 7 or </a:t>
            </a:r>
            <a:r>
              <a:rPr lang="en-US" dirty="0" smtClean="0"/>
              <a:t>higher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Outcomes/Results/Findings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Lightweight, optimized model suitable for clinical deployment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algn="just"/>
            <a:r>
              <a:rPr lang="en-US" sz="2000" dirty="0"/>
              <a:t>Improved segmentation precision and interpretability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algn="just"/>
            <a:r>
              <a:rPr lang="en-US" sz="2000" dirty="0"/>
              <a:t>Contribution toward advanced medical AI research.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Societal Impact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Supports </a:t>
            </a:r>
            <a:r>
              <a:rPr lang="en-US" sz="2000" b="1" dirty="0"/>
              <a:t>SDG-3: Good Health and Well-Being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algn="just"/>
            <a:r>
              <a:rPr lang="en-US" sz="2000" dirty="0"/>
              <a:t>Helps reduce diagnostic workload for healthcare professionals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Timeline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quarter" idx="1"/>
          </p:nvPr>
        </p:nvGraphicFramePr>
        <p:xfrm>
          <a:off x="914400" y="1828800"/>
          <a:ext cx="71628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Problem identification and literature survey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/>
                        <a:t>Phase 2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collection and sensor setup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/>
                        <a:t>Phase 3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Model Implementation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/>
                        <a:t>Phase 4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Testing and Validation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/>
                        <a:t>Phase 5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Thesis Writing and Publications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/>
                        <a:t>Phase 6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/>
                        <a:t>Final Submission and Defense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:-15/10/2025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proposed research aims to develop a robust, optimized AI model for breast cancer detection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162800" cy="4876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457200" indent="-457200" algn="just">
              <a:buFont typeface="+mj-lt"/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</a:fld>
            <a:endParaRPr lang="en-US"/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5400" dirty="0" smtClean="0">
                <a:solidFill>
                  <a:srgbClr val="FF0000"/>
                </a:solidFill>
                <a:latin typeface="Franklin Gothic Demi" panose="020B0703020102020204" pitchFamily="34" charset="0"/>
              </a:rPr>
              <a:t>Thank you Questions If any.</a:t>
            </a:r>
            <a:endParaRPr lang="en-US" sz="5400" dirty="0">
              <a:solidFill>
                <a:srgbClr val="FF0000"/>
              </a:solidFill>
              <a:latin typeface="Franklin Gothic Demi" panose="020B0703020102020204" pitchFamily="34" charset="0"/>
            </a:endParaRP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2183</Words>
  <Application>WPS Presentation</Application>
  <PresentationFormat>On-screen Show (4:3)</PresentationFormat>
  <Paragraphs>210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Wingdings 2</vt:lpstr>
      <vt:lpstr>Times New Roman</vt:lpstr>
      <vt:lpstr>Franklin Gothic Demi</vt:lpstr>
      <vt:lpstr>Perpetua</vt:lpstr>
      <vt:lpstr>Microsoft YaHei</vt:lpstr>
      <vt:lpstr>Arial Unicode MS</vt:lpstr>
      <vt:lpstr>Franklin Gothic Book</vt:lpstr>
      <vt:lpstr>Calibri</vt:lpstr>
      <vt:lpstr>Equity</vt:lpstr>
      <vt:lpstr>PowerPoint 演示文稿</vt:lpstr>
      <vt:lpstr>Outlines</vt:lpstr>
      <vt:lpstr>Introduction</vt:lpstr>
      <vt:lpstr>Literature Review/Survey</vt:lpstr>
      <vt:lpstr>Research Gap &amp; Motivation </vt:lpstr>
      <vt:lpstr>Research Objectives</vt:lpstr>
      <vt:lpstr>Research Methodology/Data Collection</vt:lpstr>
      <vt:lpstr>Software and Hardware Requirements </vt:lpstr>
      <vt:lpstr>Software and Hardware Requirements </vt:lpstr>
      <vt:lpstr>Expected Outcomes/Results/Findings</vt:lpstr>
      <vt:lpstr> Societal Impact</vt:lpstr>
      <vt:lpstr> Research Timeline</vt:lpstr>
      <vt:lpstr> Conclusion 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SYSTEMATIC ANALYSIS OF SOFTWARE COST  ESTIMATION TECHNIQUES</dc:title>
  <dc:creator>om</dc:creator>
  <cp:lastModifiedBy>Sudhir Kadam</cp:lastModifiedBy>
  <cp:revision>91</cp:revision>
  <dcterms:created xsi:type="dcterms:W3CDTF">2020-06-20T22:37:00Z</dcterms:created>
  <dcterms:modified xsi:type="dcterms:W3CDTF">2026-07-28T04:37:37Z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EE21529C30264EF3AFF63C0E8D5E4463_12</vt:lpwstr>
  </property>
</Properties>
</file>